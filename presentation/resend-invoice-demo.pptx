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2E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8173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Georgia"/>
              </a:rPr>
              <a:t>Resend Invoice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5661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8D98"/>
                </a:solidFill>
                <a:latin typeface="Helvetica Neue"/>
              </a:rPr>
              <a:t>An agentic approach to a transactional email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663440"/>
            <a:ext cx="10817352" cy="10972"/>
          </a:xfrm>
          <a:prstGeom prst="rect">
            <a:avLst/>
          </a:prstGeom>
          <a:solidFill>
            <a:srgbClr val="2E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06340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8D98"/>
                </a:solidFill>
                <a:latin typeface="Helvetica Neue"/>
              </a:rPr>
              <a:t>Built by: [Your Name]  · 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8D98"/>
                </a:solidFill>
                <a:latin typeface="Georgia"/>
              </a:rPr>
              <a:t>Resend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73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8D98"/>
                </a:solidFill>
                <a:latin typeface="Helvetica Neue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D98"/>
                </a:solidFill>
                <a:latin typeface="Helvetica Neue"/>
              </a:rPr>
              <a:t>01 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173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What I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2E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A Node.js + Express service that sends invoice emails via Resend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Single  POST /invoice  endpoint orchestrates the full flow: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8B8D98"/>
                </a:solidFill>
                <a:latin typeface="Helvetica Neue"/>
              </a:rPr>
              <a:t>  →  Validate input → Generate PDF → Send email with attachment → Optionally schedule a receipt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Webhook listener at  POST /webhooks/resend  handles all Resend delivery events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Covers four core Resend capabilities: transactional email, attachments, scheduling, webhooks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8D98"/>
                </a:solidFill>
                <a:latin typeface="Georgia"/>
              </a:rPr>
              <a:t>Resend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8D98"/>
                </a:solidFill>
                <a:latin typeface="Helvetica Neue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D98"/>
                </a:solidFill>
                <a:latin typeface="Helvetica Neue"/>
              </a:rPr>
              <a:t>02 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173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How I Built It — The Agentic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2E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Used AI agents (via Cursor) to implement all 7 phases of the project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Broke the project into 14 discrete agent tasks across phases 1–7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Used 3 sub-agents with unique skills: resend-implementer, verifier, webhook-specialist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Each task had a structured prompt, clear inputs, and defined outputs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Agents operated with dependencies — Phase N only started after Phase N-1 completed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Result: full working service built with some manual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8D98"/>
                </a:solidFill>
                <a:latin typeface="Georgia"/>
              </a:rPr>
              <a:t>Resend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8D98"/>
                </a:solidFill>
                <a:latin typeface="Helvetica Neue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D98"/>
                </a:solidFill>
                <a:latin typeface="Helvetica Neue"/>
              </a:rPr>
              <a:t>03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173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2E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72768"/>
            <a:ext cx="10817352" cy="3931920"/>
          </a:xfrm>
          <a:prstGeom prst="rect">
            <a:avLst/>
          </a:prstGeom>
          <a:solidFill>
            <a:srgbClr val="18191B"/>
          </a:solidFill>
          <a:ln w="9525">
            <a:solidFill>
              <a:srgbClr val="2E2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37360"/>
            <a:ext cx="10415016" cy="3602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EDEEF0"/>
                </a:solidFill>
                <a:latin typeface="Menlo"/>
              </a:rPr>
              <a:t>POST /invoice</a:t>
            </a:r>
          </a:p>
          <a:p>
            <a:r>
              <a:rPr sz="1050">
                <a:solidFill>
                  <a:srgbClr val="EDEEF0"/>
                </a:solidFill>
                <a:latin typeface="Menlo"/>
              </a:rPr>
              <a:t>  { lineItems, clientName, clientEmail, schedule_receipt, delay_minutes }</a:t>
            </a:r>
          </a:p>
          <a:p>
            <a:r>
              <a:rPr sz="1050">
                <a:solidFill>
                  <a:srgbClr val="EDEEF0"/>
                </a:solidFill>
                <a:latin typeface="Menlo"/>
              </a:rPr>
              <a:t>       │</a:t>
            </a:r>
          </a:p>
          <a:p>
            <a:r>
              <a:rPr sz="1050">
                <a:solidFill>
                  <a:srgbClr val="EDEEF0"/>
                </a:solidFill>
                <a:latin typeface="Menlo"/>
              </a:rPr>
              <a:t>       ├── Validate inputs (400 on failure)</a:t>
            </a:r>
          </a:p>
          <a:p>
            <a:r>
              <a:rPr sz="1050">
                <a:solidFill>
                  <a:srgbClr val="EDEEF0"/>
                </a:solidFill>
                <a:latin typeface="Menlo"/>
              </a:rPr>
              <a:t>       ├── generateInvoicePDF()   →  PDFKit → Buffer</a:t>
            </a:r>
          </a:p>
          <a:p>
            <a:r>
              <a:rPr sz="1050">
                <a:solidFill>
                  <a:srgbClr val="EDEEF0"/>
                </a:solidFill>
                <a:latin typeface="Menlo"/>
              </a:rPr>
              <a:t>       ├── sendInvoiceEmail()     →  Resend SDK (with Base64 PDF attachment)</a:t>
            </a:r>
          </a:p>
          <a:p>
            <a:r>
              <a:rPr sz="1050">
                <a:solidFill>
                  <a:srgbClr val="EDEEF0"/>
                </a:solidFill>
                <a:latin typeface="Menlo"/>
              </a:rPr>
              <a:t>       └── scheduleReceiptEmail() →  Resend scheduled_at (ISO 8601)</a:t>
            </a:r>
          </a:p>
          <a:p>
            <a:r>
              <a:rPr sz="1050">
                <a:solidFill>
                  <a:srgbClr val="EDEEF0"/>
                </a:solidFill>
                <a:latin typeface="Menlo"/>
              </a:rPr>
              <a:t/>
            </a:r>
          </a:p>
          <a:p>
            <a:r>
              <a:rPr sz="1050">
                <a:solidFill>
                  <a:srgbClr val="EDEEF0"/>
                </a:solidFill>
                <a:latin typeface="Menlo"/>
              </a:rPr>
              <a:t>POST /webhooks/resend</a:t>
            </a:r>
          </a:p>
          <a:p>
            <a:r>
              <a:rPr sz="1050">
                <a:solidFill>
                  <a:srgbClr val="EDEEF0"/>
                </a:solidFill>
                <a:latin typeface="Menlo"/>
              </a:rPr>
              <a:t>  → express.raw()  (unparsed body required for Svix HMAC verification)</a:t>
            </a:r>
          </a:p>
          <a:p>
            <a:r>
              <a:rPr sz="1050">
                <a:solidFill>
                  <a:srgbClr val="EDEEF0"/>
                </a:solidFill>
                <a:latin typeface="Menlo"/>
              </a:rPr>
              <a:t>  → resend.webhooks.verify()</a:t>
            </a:r>
          </a:p>
          <a:p>
            <a:r>
              <a:rPr sz="1050">
                <a:solidFill>
                  <a:srgbClr val="EDEEF0"/>
                </a:solidFill>
                <a:latin typeface="Menlo"/>
              </a:rPr>
              <a:t>  → switch on event type  (sent, delivered, bounced, complained, 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2356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D98"/>
                </a:solidFill>
                <a:latin typeface="Helvetica Neue"/>
              </a:rPr>
              <a:t>Three source files:  src/index.js  ·  src/invoice.js  ·  src/email.js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8D98"/>
                </a:solidFill>
                <a:latin typeface="Georgia"/>
              </a:rPr>
              <a:t>Resend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73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8D98"/>
                </a:solidFill>
                <a:latin typeface="Helvetica Neue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D98"/>
                </a:solidFill>
                <a:latin typeface="Helvetica Neue"/>
              </a:rPr>
              <a:t>04  FEATURE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173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Transactional Email + PDF Attachment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2E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Invoice email sent via Resend Node SDK with HTML body and inline styles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PDF generated in-memory with PDFKit — no temp files written to disk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Attachment passed as Base64:  pdfBuffer.toString('base64')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Resend attachment format:  [{ filename: 'invoice.pdf', content: base64String }]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Unique invoice IDs generated per request:  INV-YYYYMMDD-XXXX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8D98"/>
                </a:solidFill>
                <a:latin typeface="Georgia"/>
              </a:rPr>
              <a:t>Resend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8D98"/>
                </a:solidFill>
                <a:latin typeface="Helvetica Neue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D98"/>
                </a:solidFill>
                <a:latin typeface="Helvetica Neue"/>
              </a:rPr>
              <a:t>05  FEATURE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173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Scheduled Email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2E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Optional receipt email sent after a configurable delay (in minutes)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Uses Resend's  scheduled_at  field — ISO 8601 datetime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Calculated as:  new Date(Date.now() + delayMinutes * 60000).toISOString()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Triggered by  schedule_receipt: true  in the request payload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Receipt email ID returned in API response for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8D98"/>
                </a:solidFill>
                <a:latin typeface="Georgia"/>
              </a:rPr>
              <a:t>Resend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8D98"/>
                </a:solidFill>
                <a:latin typeface="Helvetica Neue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D98"/>
                </a:solidFill>
                <a:latin typeface="Helvetica Neue"/>
              </a:rPr>
              <a:t>06  FEATURE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173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Webhooks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2E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Endpoint:  POST /webhooks/resend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Signature verified via  resend.webhooks.verify()  — Svix under the hood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Critical detail:  express.raw()  scoped to webhook route only — unparsed body required for HMAC verification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Handles 11 event types: email.sent, email.delivered, email.bounced, email.complained, and more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Returns  401  on invalid signature,  200  on all valid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8D98"/>
                </a:solidFill>
                <a:latin typeface="Georgia"/>
              </a:rPr>
              <a:t>Resend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8D98"/>
                </a:solidFill>
                <a:latin typeface="Helvetica Neue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D98"/>
                </a:solidFill>
                <a:latin typeface="Helvetica Neue"/>
              </a:rPr>
              <a:t>07 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173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Sample Request &amp;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2E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5065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D98"/>
                </a:solidFill>
                <a:latin typeface="Helvetica Neue"/>
              </a:rPr>
              <a:t>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01952"/>
            <a:ext cx="5065776" cy="3749039"/>
          </a:xfrm>
          <a:prstGeom prst="rect">
            <a:avLst/>
          </a:prstGeom>
          <a:solidFill>
            <a:srgbClr val="18191B"/>
          </a:solidFill>
          <a:ln w="9525">
            <a:solidFill>
              <a:srgbClr val="2E2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66544"/>
            <a:ext cx="4663440" cy="34198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EDEEF0"/>
                </a:solidFill>
                <a:latin typeface="Menlo"/>
              </a:rPr>
              <a:t>curl -X POST http://localhost:3000/invoice \</a:t>
            </a:r>
          </a:p>
          <a:p>
            <a:r>
              <a:rPr sz="900">
                <a:solidFill>
                  <a:srgbClr val="EDEEF0"/>
                </a:solidFill>
                <a:latin typeface="Menlo"/>
              </a:rPr>
              <a:t>  -H "Content-Type: application/json" \</a:t>
            </a:r>
          </a:p>
          <a:p>
            <a:r>
              <a:rPr sz="900">
                <a:solidFill>
                  <a:srgbClr val="EDEEF0"/>
                </a:solidFill>
                <a:latin typeface="Menlo"/>
              </a:rPr>
              <a:t>  -d '{</a:t>
            </a:r>
          </a:p>
          <a:p>
            <a:r>
              <a:rPr sz="900">
                <a:solidFill>
                  <a:srgbClr val="EDEEF0"/>
                </a:solidFill>
                <a:latin typeface="Menlo"/>
              </a:rPr>
              <a:t>    "lineItems": [</a:t>
            </a:r>
          </a:p>
          <a:p>
            <a:r>
              <a:rPr sz="900">
                <a:solidFill>
                  <a:srgbClr val="EDEEF0"/>
                </a:solidFill>
                <a:latin typeface="Menlo"/>
              </a:rPr>
              <a:t>      { "description": "Consulting",</a:t>
            </a:r>
          </a:p>
          <a:p>
            <a:r>
              <a:rPr sz="900">
                <a:solidFill>
                  <a:srgbClr val="EDEEF0"/>
                </a:solidFill>
                <a:latin typeface="Menlo"/>
              </a:rPr>
              <a:t>        "quantity": 5, "rate": 150 },</a:t>
            </a:r>
          </a:p>
          <a:p>
            <a:r>
              <a:rPr sz="900">
                <a:solidFill>
                  <a:srgbClr val="EDEEF0"/>
                </a:solidFill>
                <a:latin typeface="Menlo"/>
              </a:rPr>
              <a:t>      { "description": "Design review",</a:t>
            </a:r>
          </a:p>
          <a:p>
            <a:r>
              <a:rPr sz="900">
                <a:solidFill>
                  <a:srgbClr val="EDEEF0"/>
                </a:solidFill>
                <a:latin typeface="Menlo"/>
              </a:rPr>
              <a:t>        "quantity": 2, "rate": 200 }</a:t>
            </a:r>
          </a:p>
          <a:p>
            <a:r>
              <a:rPr sz="900">
                <a:solidFill>
                  <a:srgbClr val="EDEEF0"/>
                </a:solidFill>
                <a:latin typeface="Menlo"/>
              </a:rPr>
              <a:t>    ],</a:t>
            </a:r>
          </a:p>
          <a:p>
            <a:r>
              <a:rPr sz="900">
                <a:solidFill>
                  <a:srgbClr val="EDEEF0"/>
                </a:solidFill>
                <a:latin typeface="Menlo"/>
              </a:rPr>
              <a:t>    "clientName": "Acme Corp",</a:t>
            </a:r>
          </a:p>
          <a:p>
            <a:r>
              <a:rPr sz="900">
                <a:solidFill>
                  <a:srgbClr val="EDEEF0"/>
                </a:solidFill>
                <a:latin typeface="Menlo"/>
              </a:rPr>
              <a:t>    "clientEmail": "billing@acme.com",</a:t>
            </a:r>
          </a:p>
          <a:p>
            <a:r>
              <a:rPr sz="900">
                <a:solidFill>
                  <a:srgbClr val="EDEEF0"/>
                </a:solidFill>
                <a:latin typeface="Menlo"/>
              </a:rPr>
              <a:t>    "schedule_receipt": true,</a:t>
            </a:r>
          </a:p>
          <a:p>
            <a:r>
              <a:rPr sz="900">
                <a:solidFill>
                  <a:srgbClr val="EDEEF0"/>
                </a:solidFill>
                <a:latin typeface="Menlo"/>
              </a:rPr>
              <a:t>    "delay_minutes": 1</a:t>
            </a:r>
          </a:p>
          <a:p>
            <a:r>
              <a:rPr sz="900">
                <a:solidFill>
                  <a:srgbClr val="EDEEF0"/>
                </a:solidFill>
                <a:latin typeface="Menlo"/>
              </a:rPr>
              <a:t>  }'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7376" y="1572768"/>
            <a:ext cx="5065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D98"/>
                </a:solidFill>
                <a:latin typeface="Helvetica Neue"/>
              </a:rPr>
              <a:t>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37376" y="1901952"/>
            <a:ext cx="5065776" cy="2377440"/>
          </a:xfrm>
          <a:prstGeom prst="rect">
            <a:avLst/>
          </a:prstGeom>
          <a:solidFill>
            <a:srgbClr val="18191B"/>
          </a:solidFill>
          <a:ln w="9525">
            <a:solidFill>
              <a:srgbClr val="2E2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38544" y="2066544"/>
            <a:ext cx="4663440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DEEF0"/>
                </a:solidFill>
                <a:latin typeface="Menlo"/>
              </a:rPr>
              <a:t>{</a:t>
            </a:r>
          </a:p>
          <a:p>
            <a:r>
              <a:rPr sz="1000">
                <a:solidFill>
                  <a:srgbClr val="EDEEF0"/>
                </a:solidFill>
                <a:latin typeface="Menlo"/>
              </a:rPr>
              <a:t>  "success": true,</a:t>
            </a:r>
          </a:p>
          <a:p>
            <a:r>
              <a:rPr sz="1000">
                <a:solidFill>
                  <a:srgbClr val="EDEEF0"/>
                </a:solidFill>
                <a:latin typeface="Menlo"/>
              </a:rPr>
              <a:t>  "invoiceId": "INV-20260220-4823",</a:t>
            </a:r>
          </a:p>
          <a:p>
            <a:r>
              <a:rPr sz="1000">
                <a:solidFill>
                  <a:srgbClr val="EDEEF0"/>
                </a:solidFill>
                <a:latin typeface="Menlo"/>
              </a:rPr>
              <a:t>  "invoice_total": 1150,</a:t>
            </a:r>
          </a:p>
          <a:p>
            <a:r>
              <a:rPr sz="1000">
                <a:solidFill>
                  <a:srgbClr val="EDEEF0"/>
                </a:solidFill>
                <a:latin typeface="Menlo"/>
              </a:rPr>
              <a:t>  "from": "Resend &lt;onboarding@resend.dev&gt;",</a:t>
            </a:r>
          </a:p>
          <a:p>
            <a:r>
              <a:rPr sz="1000">
                <a:solidFill>
                  <a:srgbClr val="EDEEF0"/>
                </a:solidFill>
                <a:latin typeface="Menlo"/>
              </a:rPr>
              <a:t>  "to": "billing@acme.com",</a:t>
            </a:r>
          </a:p>
          <a:p>
            <a:r>
              <a:rPr sz="1000">
                <a:solidFill>
                  <a:srgbClr val="EDEEF0"/>
                </a:solidFill>
                <a:latin typeface="Menlo"/>
              </a:rPr>
              <a:t>  "scheduledEmailId": "re_abc123..."</a:t>
            </a:r>
          </a:p>
          <a:p>
            <a:r>
              <a:rPr sz="1000">
                <a:solidFill>
                  <a:srgbClr val="EDEEF0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8D98"/>
                </a:solidFill>
                <a:latin typeface="Georgia"/>
              </a:rPr>
              <a:t>Resend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5912" y="6473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8D98"/>
                </a:solidFill>
                <a:latin typeface="Helvetica Neue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8D98"/>
                </a:solidFill>
                <a:latin typeface="Helvetica Neue"/>
              </a:rPr>
              <a:t>08 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173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Takeaways &amp;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0817352" cy="10972"/>
          </a:xfrm>
          <a:prstGeom prst="rect">
            <a:avLst/>
          </a:prstGeom>
          <a:solidFill>
            <a:srgbClr val="2E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81735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Resend's SDK is clean and predictable — attachment, scheduling, and webhook verify are first-class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The  scheduled_at  API is a standout feature — no job queue needed for simple delays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Svix signature verification requires raw body discipline — easy to get wrong, easy to document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EDEEF0"/>
                </a:solidFill>
                <a:latin typeface="Helvetica Neue"/>
              </a:rPr>
              <a:t>  •  Agentic development with structured tasks dramatically accelerated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06240"/>
            <a:ext cx="1081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Possible Extensions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17720"/>
            <a:ext cx="108173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400">
                <a:solidFill>
                  <a:srgbClr val="EDEEF0"/>
                </a:solidFill>
                <a:latin typeface="Helvetica Neue"/>
              </a:rPr>
              <a:t>  •  Store invoice records in a database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EDEEF0"/>
                </a:solidFill>
                <a:latin typeface="Helvetica Neue"/>
              </a:rPr>
              <a:t>  •  Retry on bounce event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EDEEF0"/>
                </a:solidFill>
                <a:latin typeface="Helvetica Neue"/>
              </a:rPr>
              <a:t>  •  PDF templates with branding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EDEEF0"/>
                </a:solidFill>
                <a:latin typeface="Helvetica Neue"/>
              </a:rPr>
              <a:t>  •  Resend Broadcasts for bulk invoicing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8D98"/>
                </a:solidFill>
                <a:latin typeface="Georgia"/>
              </a:rPr>
              <a:t>Resend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73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8D98"/>
                </a:solidFill>
                <a:latin typeface="Helvetica Neue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